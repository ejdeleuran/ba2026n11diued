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DM Serif Display Italics" charset="1" panose="00000000000000000000"/>
      <p:regular r:id="rId11"/>
    </p:embeddedFont>
    <p:embeddedFont>
      <p:font typeface="Anton Italics" charset="1" panose="00000500000000000000"/>
      <p:regular r:id="rId12"/>
    </p:embeddedFont>
    <p:embeddedFont>
      <p:font typeface="Open Sans" charset="1" panose="020B0606030504020204"/>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 Id="rId6" Target="../media/image1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38E5"/>
        </a:solidFill>
      </p:bgPr>
    </p:bg>
    <p:spTree>
      <p:nvGrpSpPr>
        <p:cNvPr id="1" name=""/>
        <p:cNvGrpSpPr/>
        <p:nvPr/>
      </p:nvGrpSpPr>
      <p:grpSpPr>
        <a:xfrm>
          <a:off x="0" y="0"/>
          <a:ext cx="0" cy="0"/>
          <a:chOff x="0" y="0"/>
          <a:chExt cx="0" cy="0"/>
        </a:xfrm>
      </p:grpSpPr>
      <p:grpSp>
        <p:nvGrpSpPr>
          <p:cNvPr name="Group 2" id="2"/>
          <p:cNvGrpSpPr/>
          <p:nvPr/>
        </p:nvGrpSpPr>
        <p:grpSpPr>
          <a:xfrm rot="0">
            <a:off x="-1471112" y="-437395"/>
            <a:ext cx="21220700" cy="11936702"/>
            <a:chOff x="0" y="0"/>
            <a:chExt cx="28294267" cy="15915603"/>
          </a:xfrm>
        </p:grpSpPr>
        <p:sp>
          <p:nvSpPr>
            <p:cNvPr name="Freeform 3" id="3"/>
            <p:cNvSpPr/>
            <p:nvPr/>
          </p:nvSpPr>
          <p:spPr>
            <a:xfrm flipH="false" flipV="false" rot="0">
              <a:off x="0" y="0"/>
              <a:ext cx="28294329" cy="15915639"/>
            </a:xfrm>
            <a:custGeom>
              <a:avLst/>
              <a:gdLst/>
              <a:ahLst/>
              <a:cxnLst/>
              <a:rect r="r" b="b" t="t" l="l"/>
              <a:pathLst>
                <a:path h="15915639" w="28294329">
                  <a:moveTo>
                    <a:pt x="0" y="0"/>
                  </a:moveTo>
                  <a:lnTo>
                    <a:pt x="28294329" y="0"/>
                  </a:lnTo>
                  <a:lnTo>
                    <a:pt x="28294329" y="15915639"/>
                  </a:lnTo>
                  <a:lnTo>
                    <a:pt x="0" y="15915639"/>
                  </a:lnTo>
                  <a:lnTo>
                    <a:pt x="0" y="0"/>
                  </a:lnTo>
                  <a:close/>
                </a:path>
              </a:pathLst>
            </a:custGeom>
            <a:blipFill>
              <a:blip r:embed="rId2">
                <a:alphaModFix amt="25000"/>
              </a:blip>
              <a:stretch>
                <a:fillRect l="0" t="-38888" r="0" b="-38888"/>
              </a:stretch>
            </a:blipFill>
          </p:spPr>
        </p:sp>
      </p:grpSp>
      <p:grpSp>
        <p:nvGrpSpPr>
          <p:cNvPr name="Group 4" id="4"/>
          <p:cNvGrpSpPr/>
          <p:nvPr/>
        </p:nvGrpSpPr>
        <p:grpSpPr>
          <a:xfrm rot="0">
            <a:off x="3008232" y="818486"/>
            <a:ext cx="15559695" cy="5699271"/>
            <a:chOff x="0" y="0"/>
            <a:chExt cx="20746259" cy="7599028"/>
          </a:xfrm>
        </p:grpSpPr>
        <p:sp>
          <p:nvSpPr>
            <p:cNvPr name="Freeform 5" id="5"/>
            <p:cNvSpPr/>
            <p:nvPr/>
          </p:nvSpPr>
          <p:spPr>
            <a:xfrm flipH="false" flipV="false" rot="0">
              <a:off x="0" y="0"/>
              <a:ext cx="20746259" cy="7599028"/>
            </a:xfrm>
            <a:custGeom>
              <a:avLst/>
              <a:gdLst/>
              <a:ahLst/>
              <a:cxnLst/>
              <a:rect r="r" b="b" t="t" l="l"/>
              <a:pathLst>
                <a:path h="7599028" w="20746259">
                  <a:moveTo>
                    <a:pt x="0" y="0"/>
                  </a:moveTo>
                  <a:lnTo>
                    <a:pt x="20746259" y="0"/>
                  </a:lnTo>
                  <a:lnTo>
                    <a:pt x="20746259" y="7599028"/>
                  </a:lnTo>
                  <a:lnTo>
                    <a:pt x="0" y="7599028"/>
                  </a:lnTo>
                  <a:close/>
                </a:path>
              </a:pathLst>
            </a:custGeom>
          </p:spPr>
        </p:sp>
        <p:sp>
          <p:nvSpPr>
            <p:cNvPr name="TextBox 6" id="6"/>
            <p:cNvSpPr txBox="true"/>
            <p:nvPr/>
          </p:nvSpPr>
          <p:spPr>
            <a:xfrm>
              <a:off x="0" y="409575"/>
              <a:ext cx="20746259" cy="7189453"/>
            </a:xfrm>
            <a:prstGeom prst="rect">
              <a:avLst/>
            </a:prstGeom>
          </p:spPr>
          <p:txBody>
            <a:bodyPr anchor="ctr" rtlCol="false" tIns="0" lIns="0" bIns="0" rIns="0"/>
            <a:lstStyle/>
            <a:p>
              <a:pPr algn="ctr">
                <a:lnSpc>
                  <a:spcPts val="17088"/>
                </a:lnSpc>
              </a:pPr>
              <a:r>
                <a:rPr lang="en-US" sz="17800" i="true">
                  <a:solidFill>
                    <a:srgbClr val="FFFFFF"/>
                  </a:solidFill>
                  <a:latin typeface="DM Serif Display Italics"/>
                  <a:ea typeface="DM Serif Display Italics"/>
                  <a:cs typeface="DM Serif Display Italics"/>
                  <a:sym typeface="DM Serif Display Italics"/>
                </a:rPr>
                <a:t>Improvements of the device </a:t>
              </a:r>
            </a:p>
          </p:txBody>
        </p:sp>
      </p:grpSp>
      <p:grpSp>
        <p:nvGrpSpPr>
          <p:cNvPr name="Group 7" id="7"/>
          <p:cNvGrpSpPr/>
          <p:nvPr/>
        </p:nvGrpSpPr>
        <p:grpSpPr>
          <a:xfrm rot="2889472">
            <a:off x="-2725885" y="-672493"/>
            <a:ext cx="10340154" cy="6714060"/>
            <a:chOff x="0" y="0"/>
            <a:chExt cx="13786872" cy="8952080"/>
          </a:xfrm>
        </p:grpSpPr>
        <p:sp>
          <p:nvSpPr>
            <p:cNvPr name="Freeform 8" id="8"/>
            <p:cNvSpPr/>
            <p:nvPr/>
          </p:nvSpPr>
          <p:spPr>
            <a:xfrm flipH="false" flipV="false" rot="0">
              <a:off x="0" y="0"/>
              <a:ext cx="13786865" cy="8952103"/>
            </a:xfrm>
            <a:custGeom>
              <a:avLst/>
              <a:gdLst/>
              <a:ahLst/>
              <a:cxnLst/>
              <a:rect r="r" b="b" t="t" l="l"/>
              <a:pathLst>
                <a:path h="8952103" w="13786865">
                  <a:moveTo>
                    <a:pt x="0" y="0"/>
                  </a:moveTo>
                  <a:lnTo>
                    <a:pt x="13786865" y="0"/>
                  </a:lnTo>
                  <a:lnTo>
                    <a:pt x="13786865" y="8952103"/>
                  </a:lnTo>
                  <a:lnTo>
                    <a:pt x="0" y="8952103"/>
                  </a:lnTo>
                  <a:lnTo>
                    <a:pt x="0" y="0"/>
                  </a:lnTo>
                  <a:close/>
                </a:path>
              </a:pathLst>
            </a:custGeom>
            <a:blipFill>
              <a:blip r:embed="rId3"/>
              <a:stretch>
                <a:fillRect l="0" t="-32369" r="-78194" b="-21998"/>
              </a:stretch>
            </a:blipFill>
          </p:spPr>
        </p:sp>
      </p:grpSp>
      <p:grpSp>
        <p:nvGrpSpPr>
          <p:cNvPr name="Group 9" id="9"/>
          <p:cNvGrpSpPr/>
          <p:nvPr/>
        </p:nvGrpSpPr>
        <p:grpSpPr>
          <a:xfrm rot="612966">
            <a:off x="3064942" y="5530924"/>
            <a:ext cx="4730967" cy="4052016"/>
            <a:chOff x="0" y="0"/>
            <a:chExt cx="3421040" cy="2930080"/>
          </a:xfrm>
        </p:grpSpPr>
        <p:sp>
          <p:nvSpPr>
            <p:cNvPr name="Freeform 10" id="10"/>
            <p:cNvSpPr/>
            <p:nvPr/>
          </p:nvSpPr>
          <p:spPr>
            <a:xfrm flipH="false" flipV="false" rot="0">
              <a:off x="0" y="0"/>
              <a:ext cx="3420999" cy="2930017"/>
            </a:xfrm>
            <a:custGeom>
              <a:avLst/>
              <a:gdLst/>
              <a:ahLst/>
              <a:cxnLst/>
              <a:rect r="r" b="b" t="t" l="l"/>
              <a:pathLst>
                <a:path h="2930017" w="3420999">
                  <a:moveTo>
                    <a:pt x="0" y="0"/>
                  </a:moveTo>
                  <a:lnTo>
                    <a:pt x="3420999" y="0"/>
                  </a:lnTo>
                  <a:lnTo>
                    <a:pt x="3420999" y="2930017"/>
                  </a:lnTo>
                  <a:lnTo>
                    <a:pt x="0" y="2930017"/>
                  </a:lnTo>
                  <a:lnTo>
                    <a:pt x="0" y="0"/>
                  </a:lnTo>
                  <a:close/>
                </a:path>
              </a:pathLst>
            </a:custGeom>
            <a:blipFill>
              <a:blip r:embed="rId4"/>
              <a:stretch>
                <a:fillRect l="-80076" t="-32938" r="-39214" b="-11081"/>
              </a:stretch>
            </a:blipFill>
          </p:spPr>
        </p:sp>
      </p:grpSp>
      <p:sp>
        <p:nvSpPr>
          <p:cNvPr name="TextBox 11" id="11"/>
          <p:cNvSpPr txBox="true"/>
          <p:nvPr/>
        </p:nvSpPr>
        <p:spPr>
          <a:xfrm rot="0">
            <a:off x="9139238" y="5038090"/>
            <a:ext cx="9525" cy="191770"/>
          </a:xfrm>
          <a:prstGeom prst="rect">
            <a:avLst/>
          </a:prstGeom>
        </p:spPr>
        <p:txBody>
          <a:bodyPr anchor="t" rtlCol="false" tIns="0" lIns="0" bIns="0" rIns="0">
            <a:spAutoFit/>
          </a:bodyPr>
          <a:lstStyle/>
          <a:p>
            <a:pPr algn="ctr" marL="0" indent="0" lvl="0">
              <a:lnSpc>
                <a:spcPts val="1679"/>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38E5"/>
        </a:solidFill>
      </p:bgPr>
    </p:bg>
    <p:spTree>
      <p:nvGrpSpPr>
        <p:cNvPr id="1" name=""/>
        <p:cNvGrpSpPr/>
        <p:nvPr/>
      </p:nvGrpSpPr>
      <p:grpSpPr>
        <a:xfrm>
          <a:off x="0" y="0"/>
          <a:ext cx="0" cy="0"/>
          <a:chOff x="0" y="0"/>
          <a:chExt cx="0" cy="0"/>
        </a:xfrm>
      </p:grpSpPr>
      <p:sp>
        <p:nvSpPr>
          <p:cNvPr name="Freeform 2" id="2"/>
          <p:cNvSpPr/>
          <p:nvPr/>
        </p:nvSpPr>
        <p:spPr>
          <a:xfrm flipH="false" flipV="false" rot="0">
            <a:off x="0" y="-63176"/>
            <a:ext cx="18288000" cy="2468880"/>
          </a:xfrm>
          <a:custGeom>
            <a:avLst/>
            <a:gdLst/>
            <a:ahLst/>
            <a:cxnLst/>
            <a:rect r="r" b="b" t="t" l="l"/>
            <a:pathLst>
              <a:path h="2468880" w="18288000">
                <a:moveTo>
                  <a:pt x="0" y="0"/>
                </a:moveTo>
                <a:lnTo>
                  <a:pt x="18288000" y="0"/>
                </a:lnTo>
                <a:lnTo>
                  <a:pt x="18288000" y="2468880"/>
                </a:lnTo>
                <a:lnTo>
                  <a:pt x="0" y="24688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5881444" y="2484817"/>
            <a:ext cx="12406556" cy="7738589"/>
          </a:xfrm>
          <a:custGeom>
            <a:avLst/>
            <a:gdLst/>
            <a:ahLst/>
            <a:cxnLst/>
            <a:rect r="r" b="b" t="t" l="l"/>
            <a:pathLst>
              <a:path h="7738589" w="12406556">
                <a:moveTo>
                  <a:pt x="0" y="0"/>
                </a:moveTo>
                <a:lnTo>
                  <a:pt x="12406556" y="0"/>
                </a:lnTo>
                <a:lnTo>
                  <a:pt x="12406556" y="7738589"/>
                </a:lnTo>
                <a:lnTo>
                  <a:pt x="0" y="7738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pic>
        <p:nvPicPr>
          <p:cNvPr name="Picture 4" id="4"/>
          <p:cNvPicPr>
            <a:picLocks noChangeAspect="true"/>
          </p:cNvPicPr>
          <p:nvPr/>
        </p:nvPicPr>
        <p:blipFill>
          <a:blip r:embed="rId6"/>
          <a:stretch>
            <a:fillRect/>
          </a:stretch>
        </p:blipFill>
        <p:spPr>
          <a:xfrm rot="0">
            <a:off x="-519764" y="3136642"/>
            <a:ext cx="6745333" cy="7406640"/>
          </a:xfrm>
          <a:prstGeom prst="rect">
            <a:avLst/>
          </a:prstGeom>
        </p:spPr>
      </p:pic>
      <p:sp>
        <p:nvSpPr>
          <p:cNvPr name="TextBox 5" id="5"/>
          <p:cNvSpPr txBox="true"/>
          <p:nvPr/>
        </p:nvSpPr>
        <p:spPr>
          <a:xfrm rot="0">
            <a:off x="1028700" y="624877"/>
            <a:ext cx="9159297" cy="1219200"/>
          </a:xfrm>
          <a:prstGeom prst="rect">
            <a:avLst/>
          </a:prstGeom>
        </p:spPr>
        <p:txBody>
          <a:bodyPr anchor="t" rtlCol="false" tIns="0" lIns="0" bIns="0" rIns="0">
            <a:spAutoFit/>
          </a:bodyPr>
          <a:lstStyle/>
          <a:p>
            <a:pPr algn="l">
              <a:lnSpc>
                <a:spcPts val="9600"/>
              </a:lnSpc>
            </a:pPr>
            <a:r>
              <a:rPr lang="en-US" sz="8000" i="true">
                <a:solidFill>
                  <a:srgbClr val="FFFFFF"/>
                </a:solidFill>
                <a:latin typeface="Anton Italics"/>
                <a:ea typeface="Anton Italics"/>
                <a:cs typeface="Anton Italics"/>
                <a:sym typeface="Anton Italics"/>
              </a:rPr>
              <a:t>WHY YOU DIDNT USE IT</a:t>
            </a:r>
          </a:p>
        </p:txBody>
      </p:sp>
      <p:sp>
        <p:nvSpPr>
          <p:cNvPr name="TextBox 6" id="6"/>
          <p:cNvSpPr txBox="true"/>
          <p:nvPr/>
        </p:nvSpPr>
        <p:spPr>
          <a:xfrm rot="0">
            <a:off x="6470747" y="4248452"/>
            <a:ext cx="10599657" cy="4173221"/>
          </a:xfrm>
          <a:prstGeom prst="rect">
            <a:avLst/>
          </a:prstGeom>
        </p:spPr>
        <p:txBody>
          <a:bodyPr anchor="t" rtlCol="false" tIns="0" lIns="0" bIns="0" rIns="0">
            <a:spAutoFit/>
          </a:bodyPr>
          <a:lstStyle/>
          <a:p>
            <a:pPr algn="l" marL="474975" indent="-237487" lvl="1">
              <a:lnSpc>
                <a:spcPts val="3079"/>
              </a:lnSpc>
              <a:buFont typeface="Arial"/>
              <a:buChar char="•"/>
            </a:pPr>
            <a:r>
              <a:rPr lang="en-US" sz="2199">
                <a:solidFill>
                  <a:srgbClr val="FFFFFF"/>
                </a:solidFill>
                <a:latin typeface="Open Sans"/>
                <a:ea typeface="Open Sans"/>
                <a:cs typeface="Open Sans"/>
                <a:sym typeface="Open Sans"/>
              </a:rPr>
              <a:t>Lack of a comprehensive overview.</a:t>
            </a:r>
          </a:p>
          <a:p>
            <a:pPr algn="l" marL="474975" indent="-237487" lvl="1">
              <a:lnSpc>
                <a:spcPts val="3079"/>
              </a:lnSpc>
              <a:buFont typeface="Arial"/>
              <a:buChar char="•"/>
            </a:pPr>
            <a:r>
              <a:rPr lang="en-US" sz="2199">
                <a:solidFill>
                  <a:srgbClr val="FFFFFF"/>
                </a:solidFill>
                <a:latin typeface="Open Sans"/>
                <a:ea typeface="Open Sans"/>
                <a:cs typeface="Open Sans"/>
                <a:sym typeface="Open Sans"/>
              </a:rPr>
              <a:t>Absence of explanatory graphs and diagrams.</a:t>
            </a:r>
          </a:p>
          <a:p>
            <a:pPr algn="l" marL="474975" indent="-237487" lvl="1">
              <a:lnSpc>
                <a:spcPts val="3079"/>
              </a:lnSpc>
              <a:buFont typeface="Arial"/>
              <a:buChar char="•"/>
            </a:pPr>
            <a:r>
              <a:rPr lang="en-US" sz="2199">
                <a:solidFill>
                  <a:srgbClr val="FFFFFF"/>
                </a:solidFill>
                <a:latin typeface="Open Sans"/>
                <a:ea typeface="Open Sans"/>
                <a:cs typeface="Open Sans"/>
                <a:sym typeface="Open Sans"/>
              </a:rPr>
              <a:t>Missing physiological data.</a:t>
            </a:r>
          </a:p>
          <a:p>
            <a:pPr algn="l" marL="474975" indent="-237487" lvl="1">
              <a:lnSpc>
                <a:spcPts val="3079"/>
              </a:lnSpc>
              <a:buFont typeface="Arial"/>
              <a:buChar char="•"/>
            </a:pPr>
            <a:r>
              <a:rPr lang="en-US" sz="2199">
                <a:solidFill>
                  <a:srgbClr val="FFFFFF"/>
                </a:solidFill>
                <a:latin typeface="Open Sans"/>
                <a:ea typeface="Open Sans"/>
                <a:cs typeface="Open Sans"/>
                <a:sym typeface="Open Sans"/>
              </a:rPr>
              <a:t>No access to historical player information.</a:t>
            </a:r>
          </a:p>
          <a:p>
            <a:pPr algn="l" marL="474975" indent="-237487" lvl="1">
              <a:lnSpc>
                <a:spcPts val="3079"/>
              </a:lnSpc>
              <a:buFont typeface="Arial"/>
              <a:buChar char="•"/>
            </a:pPr>
            <a:r>
              <a:rPr lang="en-US" sz="2199">
                <a:solidFill>
                  <a:srgbClr val="FFFFFF"/>
                </a:solidFill>
                <a:latin typeface="Open Sans"/>
                <a:ea typeface="Open Sans"/>
                <a:cs typeface="Open Sans"/>
                <a:sym typeface="Open Sans"/>
              </a:rPr>
              <a:t>Lack of individual player assessments.</a:t>
            </a:r>
          </a:p>
          <a:p>
            <a:pPr algn="l" marL="474975" indent="-237487" lvl="1">
              <a:lnSpc>
                <a:spcPts val="3079"/>
              </a:lnSpc>
              <a:buFont typeface="Arial"/>
              <a:buChar char="•"/>
            </a:pPr>
            <a:r>
              <a:rPr lang="en-US" sz="2199">
                <a:solidFill>
                  <a:srgbClr val="FFFFFF"/>
                </a:solidFill>
                <a:latin typeface="Open Sans"/>
                <a:ea typeface="Open Sans"/>
                <a:cs typeface="Open Sans"/>
                <a:sym typeface="Open Sans"/>
              </a:rPr>
              <a:t>Requirement for positional overviews on the pitch to assist tactical planning (e.g., formations).</a:t>
            </a:r>
          </a:p>
          <a:p>
            <a:pPr algn="l" marL="474975" indent="-237487" lvl="1">
              <a:lnSpc>
                <a:spcPts val="3079"/>
              </a:lnSpc>
              <a:buFont typeface="Arial"/>
              <a:buChar char="•"/>
            </a:pPr>
            <a:r>
              <a:rPr lang="en-US" sz="2199">
                <a:solidFill>
                  <a:srgbClr val="FFFFFF"/>
                </a:solidFill>
                <a:latin typeface="Open Sans"/>
                <a:ea typeface="Open Sans"/>
                <a:cs typeface="Open Sans"/>
                <a:sym typeface="Open Sans"/>
              </a:rPr>
              <a:t>Limited functionality for injury prevention.</a:t>
            </a:r>
          </a:p>
          <a:p>
            <a:pPr algn="l" marL="474975" indent="-237487" lvl="1">
              <a:lnSpc>
                <a:spcPts val="3079"/>
              </a:lnSpc>
              <a:buFont typeface="Arial"/>
              <a:buChar char="•"/>
            </a:pPr>
            <a:r>
              <a:rPr lang="en-US" sz="2199">
                <a:solidFill>
                  <a:srgbClr val="FFFFFF"/>
                </a:solidFill>
                <a:latin typeface="Open Sans"/>
                <a:ea typeface="Open Sans"/>
                <a:cs typeface="Open Sans"/>
                <a:sym typeface="Open Sans"/>
              </a:rPr>
              <a:t>Absence of heart rate data; only metrics such as player load are available, which are not considered sufficiently useful.</a:t>
            </a:r>
          </a:p>
          <a:p>
            <a:pPr algn="l">
              <a:lnSpc>
                <a:spcPts val="3079"/>
              </a:lnSpc>
            </a:pP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51519"/>
        </a:solidFill>
      </p:bgPr>
    </p:bg>
    <p:spTree>
      <p:nvGrpSpPr>
        <p:cNvPr id="1" name=""/>
        <p:cNvGrpSpPr/>
        <p:nvPr/>
      </p:nvGrpSpPr>
      <p:grpSpPr>
        <a:xfrm>
          <a:off x="0" y="0"/>
          <a:ext cx="0" cy="0"/>
          <a:chOff x="0" y="0"/>
          <a:chExt cx="0" cy="0"/>
        </a:xfrm>
      </p:grpSpPr>
      <p:grpSp>
        <p:nvGrpSpPr>
          <p:cNvPr name="Group 2" id="2"/>
          <p:cNvGrpSpPr/>
          <p:nvPr/>
        </p:nvGrpSpPr>
        <p:grpSpPr>
          <a:xfrm rot="0">
            <a:off x="247648" y="238125"/>
            <a:ext cx="8943977" cy="10287000"/>
            <a:chOff x="0" y="0"/>
            <a:chExt cx="4059682" cy="4669282"/>
          </a:xfrm>
        </p:grpSpPr>
        <p:sp>
          <p:nvSpPr>
            <p:cNvPr name="Freeform 3" id="3"/>
            <p:cNvSpPr/>
            <p:nvPr/>
          </p:nvSpPr>
          <p:spPr>
            <a:xfrm flipH="false" flipV="false" rot="0">
              <a:off x="0" y="0"/>
              <a:ext cx="4059682" cy="4669282"/>
            </a:xfrm>
            <a:custGeom>
              <a:avLst/>
              <a:gdLst/>
              <a:ahLst/>
              <a:cxnLst/>
              <a:rect r="r" b="b" t="t" l="l"/>
              <a:pathLst>
                <a:path h="4669282" w="4059682">
                  <a:moveTo>
                    <a:pt x="4059682" y="2334641"/>
                  </a:moveTo>
                  <a:lnTo>
                    <a:pt x="2513838" y="2334641"/>
                  </a:lnTo>
                  <a:cubicBezTo>
                    <a:pt x="3367532" y="2334641"/>
                    <a:pt x="4059682" y="3026664"/>
                    <a:pt x="4059682" y="3880358"/>
                  </a:cubicBezTo>
                  <a:lnTo>
                    <a:pt x="4059682" y="4669282"/>
                  </a:lnTo>
                  <a:lnTo>
                    <a:pt x="0" y="4669282"/>
                  </a:lnTo>
                  <a:lnTo>
                    <a:pt x="0" y="1545717"/>
                  </a:lnTo>
                  <a:cubicBezTo>
                    <a:pt x="0" y="692023"/>
                    <a:pt x="692023" y="0"/>
                    <a:pt x="1545717" y="0"/>
                  </a:cubicBezTo>
                  <a:lnTo>
                    <a:pt x="4059682" y="0"/>
                  </a:lnTo>
                  <a:lnTo>
                    <a:pt x="4059682" y="2334641"/>
                  </a:lnTo>
                  <a:close/>
                </a:path>
              </a:pathLst>
            </a:custGeom>
            <a:solidFill>
              <a:srgbClr val="FF38E5"/>
            </a:solidFill>
            <a:ln cap="sq">
              <a:noFill/>
              <a:prstDash val="solid"/>
              <a:miter/>
            </a:ln>
          </p:spPr>
        </p:sp>
      </p:grpSp>
      <p:grpSp>
        <p:nvGrpSpPr>
          <p:cNvPr name="Group 4" id="4"/>
          <p:cNvGrpSpPr/>
          <p:nvPr/>
        </p:nvGrpSpPr>
        <p:grpSpPr>
          <a:xfrm rot="0">
            <a:off x="0" y="0"/>
            <a:ext cx="8943977" cy="10287000"/>
            <a:chOff x="0" y="0"/>
            <a:chExt cx="4059682" cy="4669282"/>
          </a:xfrm>
        </p:grpSpPr>
        <p:sp>
          <p:nvSpPr>
            <p:cNvPr name="Freeform 5" id="5"/>
            <p:cNvSpPr/>
            <p:nvPr/>
          </p:nvSpPr>
          <p:spPr>
            <a:xfrm flipH="false" flipV="false" rot="0">
              <a:off x="0" y="0"/>
              <a:ext cx="4059682" cy="4669282"/>
            </a:xfrm>
            <a:custGeom>
              <a:avLst/>
              <a:gdLst/>
              <a:ahLst/>
              <a:cxnLst/>
              <a:rect r="r" b="b" t="t" l="l"/>
              <a:pathLst>
                <a:path h="4669282" w="4059682">
                  <a:moveTo>
                    <a:pt x="4059682" y="2334641"/>
                  </a:moveTo>
                  <a:lnTo>
                    <a:pt x="2513838" y="2334641"/>
                  </a:lnTo>
                  <a:cubicBezTo>
                    <a:pt x="3367532" y="2334641"/>
                    <a:pt x="4059682" y="3026664"/>
                    <a:pt x="4059682" y="3880358"/>
                  </a:cubicBezTo>
                  <a:lnTo>
                    <a:pt x="4059682" y="4669282"/>
                  </a:lnTo>
                  <a:lnTo>
                    <a:pt x="0" y="4669282"/>
                  </a:lnTo>
                  <a:lnTo>
                    <a:pt x="0" y="1545717"/>
                  </a:lnTo>
                  <a:cubicBezTo>
                    <a:pt x="0" y="692023"/>
                    <a:pt x="692023" y="0"/>
                    <a:pt x="1545717" y="0"/>
                  </a:cubicBezTo>
                  <a:lnTo>
                    <a:pt x="4059682" y="0"/>
                  </a:lnTo>
                  <a:lnTo>
                    <a:pt x="4059682" y="2334641"/>
                  </a:lnTo>
                  <a:close/>
                </a:path>
              </a:pathLst>
            </a:custGeom>
            <a:blipFill>
              <a:blip r:embed="rId2"/>
              <a:stretch>
                <a:fillRect l="-51900" t="0" r="-51900" b="0"/>
              </a:stretch>
            </a:blipFill>
          </p:spPr>
        </p:sp>
      </p:grpSp>
      <p:sp>
        <p:nvSpPr>
          <p:cNvPr name="Freeform 6" id="6"/>
          <p:cNvSpPr/>
          <p:nvPr/>
        </p:nvSpPr>
        <p:spPr>
          <a:xfrm flipH="false" flipV="false" rot="0">
            <a:off x="-223500" y="9704077"/>
            <a:ext cx="1084508" cy="582923"/>
          </a:xfrm>
          <a:custGeom>
            <a:avLst/>
            <a:gdLst/>
            <a:ahLst/>
            <a:cxnLst/>
            <a:rect r="r" b="b" t="t" l="l"/>
            <a:pathLst>
              <a:path h="582923" w="1084508">
                <a:moveTo>
                  <a:pt x="0" y="0"/>
                </a:moveTo>
                <a:lnTo>
                  <a:pt x="1084508" y="0"/>
                </a:lnTo>
                <a:lnTo>
                  <a:pt x="1084508" y="582923"/>
                </a:lnTo>
                <a:lnTo>
                  <a:pt x="0" y="582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541819" y="9704077"/>
            <a:ext cx="1084508" cy="582923"/>
          </a:xfrm>
          <a:custGeom>
            <a:avLst/>
            <a:gdLst/>
            <a:ahLst/>
            <a:cxnLst/>
            <a:rect r="r" b="b" t="t" l="l"/>
            <a:pathLst>
              <a:path h="582923" w="1084508">
                <a:moveTo>
                  <a:pt x="0" y="0"/>
                </a:moveTo>
                <a:lnTo>
                  <a:pt x="1084508" y="0"/>
                </a:lnTo>
                <a:lnTo>
                  <a:pt x="1084508" y="582923"/>
                </a:lnTo>
                <a:lnTo>
                  <a:pt x="0" y="582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8" id="8"/>
          <p:cNvSpPr/>
          <p:nvPr/>
        </p:nvSpPr>
        <p:spPr>
          <a:xfrm flipH="false" flipV="false" rot="0">
            <a:off x="1307137" y="9704077"/>
            <a:ext cx="1084508" cy="582923"/>
          </a:xfrm>
          <a:custGeom>
            <a:avLst/>
            <a:gdLst/>
            <a:ahLst/>
            <a:cxnLst/>
            <a:rect r="r" b="b" t="t" l="l"/>
            <a:pathLst>
              <a:path h="582923" w="1084508">
                <a:moveTo>
                  <a:pt x="0" y="0"/>
                </a:moveTo>
                <a:lnTo>
                  <a:pt x="1084508" y="0"/>
                </a:lnTo>
                <a:lnTo>
                  <a:pt x="1084508" y="582923"/>
                </a:lnTo>
                <a:lnTo>
                  <a:pt x="0" y="582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9" id="9"/>
          <p:cNvSpPr/>
          <p:nvPr/>
        </p:nvSpPr>
        <p:spPr>
          <a:xfrm flipH="false" flipV="false" rot="0">
            <a:off x="2072456" y="9704077"/>
            <a:ext cx="1084508" cy="582923"/>
          </a:xfrm>
          <a:custGeom>
            <a:avLst/>
            <a:gdLst/>
            <a:ahLst/>
            <a:cxnLst/>
            <a:rect r="r" b="b" t="t" l="l"/>
            <a:pathLst>
              <a:path h="582923" w="1084508">
                <a:moveTo>
                  <a:pt x="0" y="0"/>
                </a:moveTo>
                <a:lnTo>
                  <a:pt x="1084508" y="0"/>
                </a:lnTo>
                <a:lnTo>
                  <a:pt x="1084508" y="582923"/>
                </a:lnTo>
                <a:lnTo>
                  <a:pt x="0" y="582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0" id="10"/>
          <p:cNvSpPr/>
          <p:nvPr/>
        </p:nvSpPr>
        <p:spPr>
          <a:xfrm flipH="false" flipV="false" rot="0">
            <a:off x="2837774" y="9704077"/>
            <a:ext cx="1084508" cy="582923"/>
          </a:xfrm>
          <a:custGeom>
            <a:avLst/>
            <a:gdLst/>
            <a:ahLst/>
            <a:cxnLst/>
            <a:rect r="r" b="b" t="t" l="l"/>
            <a:pathLst>
              <a:path h="582923" w="1084508">
                <a:moveTo>
                  <a:pt x="0" y="0"/>
                </a:moveTo>
                <a:lnTo>
                  <a:pt x="1084508" y="0"/>
                </a:lnTo>
                <a:lnTo>
                  <a:pt x="1084508" y="582923"/>
                </a:lnTo>
                <a:lnTo>
                  <a:pt x="0" y="582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1" id="11"/>
          <p:cNvSpPr/>
          <p:nvPr/>
        </p:nvSpPr>
        <p:spPr>
          <a:xfrm flipH="false" flipV="false" rot="0">
            <a:off x="15343366" y="-2000015"/>
            <a:ext cx="4951068" cy="5508837"/>
          </a:xfrm>
          <a:custGeom>
            <a:avLst/>
            <a:gdLst/>
            <a:ahLst/>
            <a:cxnLst/>
            <a:rect r="r" b="b" t="t" l="l"/>
            <a:pathLst>
              <a:path h="5508837" w="4951068">
                <a:moveTo>
                  <a:pt x="0" y="0"/>
                </a:moveTo>
                <a:lnTo>
                  <a:pt x="4951067" y="0"/>
                </a:lnTo>
                <a:lnTo>
                  <a:pt x="4951067" y="5508838"/>
                </a:lnTo>
                <a:lnTo>
                  <a:pt x="0" y="55088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8075126" y="2481399"/>
            <a:ext cx="425747" cy="138368"/>
          </a:xfrm>
          <a:custGeom>
            <a:avLst/>
            <a:gdLst/>
            <a:ahLst/>
            <a:cxnLst/>
            <a:rect r="r" b="b" t="t" l="l"/>
            <a:pathLst>
              <a:path h="138368" w="425747">
                <a:moveTo>
                  <a:pt x="0" y="0"/>
                </a:moveTo>
                <a:lnTo>
                  <a:pt x="425748" y="0"/>
                </a:lnTo>
                <a:lnTo>
                  <a:pt x="425748" y="138368"/>
                </a:lnTo>
                <a:lnTo>
                  <a:pt x="0" y="1383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rnd">
            <a:noFill/>
            <a:prstDash val="solid"/>
            <a:round/>
          </a:ln>
        </p:spPr>
      </p:sp>
      <p:sp>
        <p:nvSpPr>
          <p:cNvPr name="TextBox 13" id="13"/>
          <p:cNvSpPr txBox="true"/>
          <p:nvPr/>
        </p:nvSpPr>
        <p:spPr>
          <a:xfrm rot="0">
            <a:off x="10104729" y="238125"/>
            <a:ext cx="7714171" cy="3827145"/>
          </a:xfrm>
          <a:prstGeom prst="rect">
            <a:avLst/>
          </a:prstGeom>
        </p:spPr>
        <p:txBody>
          <a:bodyPr anchor="t" rtlCol="false" tIns="0" lIns="0" bIns="0" rIns="0">
            <a:spAutoFit/>
          </a:bodyPr>
          <a:lstStyle/>
          <a:p>
            <a:pPr algn="l">
              <a:lnSpc>
                <a:spcPts val="15067"/>
              </a:lnSpc>
            </a:pPr>
            <a:r>
              <a:rPr lang="en-US" sz="12556" i="true">
                <a:solidFill>
                  <a:srgbClr val="FFFFFF"/>
                </a:solidFill>
                <a:latin typeface="Anton Italics"/>
                <a:ea typeface="Anton Italics"/>
                <a:cs typeface="Anton Italics"/>
                <a:sym typeface="Anton Italics"/>
              </a:rPr>
              <a:t>WHAT WE CAN DO NOW </a:t>
            </a:r>
          </a:p>
        </p:txBody>
      </p:sp>
      <p:sp>
        <p:nvSpPr>
          <p:cNvPr name="TextBox 14" id="14"/>
          <p:cNvSpPr txBox="true"/>
          <p:nvPr/>
        </p:nvSpPr>
        <p:spPr>
          <a:xfrm rot="0">
            <a:off x="9876968" y="4460691"/>
            <a:ext cx="7717572" cy="5534848"/>
          </a:xfrm>
          <a:prstGeom prst="rect">
            <a:avLst/>
          </a:prstGeom>
        </p:spPr>
        <p:txBody>
          <a:bodyPr anchor="t" rtlCol="false" tIns="0" lIns="0" bIns="0" rIns="0">
            <a:spAutoFit/>
          </a:bodyPr>
          <a:lstStyle/>
          <a:p>
            <a:pPr algn="l" marL="394061" indent="-197030" lvl="1">
              <a:lnSpc>
                <a:spcPts val="2938"/>
              </a:lnSpc>
              <a:buFont typeface="Arial"/>
              <a:buChar char="•"/>
            </a:pPr>
            <a:r>
              <a:rPr lang="en-US" sz="1825" i="true">
                <a:solidFill>
                  <a:srgbClr val="FFFFFF"/>
                </a:solidFill>
                <a:latin typeface="Anton Italics"/>
                <a:ea typeface="Anton Italics"/>
                <a:cs typeface="Anton Italics"/>
                <a:sym typeface="Anton Italics"/>
              </a:rPr>
              <a:t>We can integrate psychological data.</a:t>
            </a:r>
          </a:p>
          <a:p>
            <a:pPr algn="l" marL="394061" indent="-197030" lvl="1">
              <a:lnSpc>
                <a:spcPts val="2938"/>
              </a:lnSpc>
              <a:buFont typeface="Arial"/>
              <a:buChar char="•"/>
            </a:pPr>
            <a:r>
              <a:rPr lang="en-US" sz="1825" i="true">
                <a:solidFill>
                  <a:srgbClr val="FFFFFF"/>
                </a:solidFill>
                <a:latin typeface="Anton Italics"/>
                <a:ea typeface="Anton Italics"/>
                <a:cs typeface="Anton Italics"/>
                <a:sym typeface="Anton Italics"/>
              </a:rPr>
              <a:t>We can design a clear and structured overview of all relevant information.</a:t>
            </a:r>
          </a:p>
          <a:p>
            <a:pPr algn="l" marL="394061" indent="-197030" lvl="1">
              <a:lnSpc>
                <a:spcPts val="2938"/>
              </a:lnSpc>
              <a:buFont typeface="Arial"/>
              <a:buChar char="•"/>
            </a:pPr>
            <a:r>
              <a:rPr lang="en-US" sz="1825" i="true">
                <a:solidFill>
                  <a:srgbClr val="FFFFFF"/>
                </a:solidFill>
                <a:latin typeface="Anton Italics"/>
                <a:ea typeface="Anton Italics"/>
                <a:cs typeface="Anton Italics"/>
                <a:sym typeface="Anton Italics"/>
              </a:rPr>
              <a:t>We can develop informative graphs and diagrams tailored to user preferences, avoiding unnecessary complexity or overly technical presentations.</a:t>
            </a:r>
          </a:p>
          <a:p>
            <a:pPr algn="l" marL="394061" indent="-197030" lvl="1">
              <a:lnSpc>
                <a:spcPts val="2938"/>
              </a:lnSpc>
              <a:buFont typeface="Arial"/>
              <a:buChar char="•"/>
            </a:pPr>
            <a:r>
              <a:rPr lang="en-US" sz="1825" i="true">
                <a:solidFill>
                  <a:srgbClr val="FFFFFF"/>
                </a:solidFill>
                <a:latin typeface="Anton Italics"/>
                <a:ea typeface="Anton Italics"/>
                <a:cs typeface="Anton Italics"/>
                <a:sym typeface="Anton Italics"/>
              </a:rPr>
              <a:t>This will require additional stakeholder dialogue to ensure alignment with user needs.</a:t>
            </a:r>
          </a:p>
          <a:p>
            <a:pPr algn="l" marL="394061" indent="-197030" lvl="1">
              <a:lnSpc>
                <a:spcPts val="2938"/>
              </a:lnSpc>
              <a:buFont typeface="Arial"/>
              <a:buChar char="•"/>
            </a:pPr>
            <a:r>
              <a:rPr lang="en-US" sz="1825" i="true">
                <a:solidFill>
                  <a:srgbClr val="FFFFFF"/>
                </a:solidFill>
                <a:latin typeface="Anton Italics"/>
                <a:ea typeface="Anton Italics"/>
                <a:cs typeface="Anton Italics"/>
                <a:sym typeface="Anton Italics"/>
              </a:rPr>
              <a:t>We can incorporate historical data, including match statistics.</a:t>
            </a:r>
          </a:p>
          <a:p>
            <a:pPr algn="l" marL="394061" indent="-197030" lvl="1">
              <a:lnSpc>
                <a:spcPts val="2938"/>
              </a:lnSpc>
              <a:buFont typeface="Arial"/>
              <a:buChar char="•"/>
            </a:pPr>
            <a:r>
              <a:rPr lang="en-US" sz="1825" i="true">
                <a:solidFill>
                  <a:srgbClr val="FFFFFF"/>
                </a:solidFill>
                <a:latin typeface="Anton Italics"/>
                <a:ea typeface="Anton Italics"/>
                <a:cs typeface="Anton Italics"/>
                <a:sym typeface="Anton Italics"/>
              </a:rPr>
              <a:t>We can implement a player-specific panel allowing selection of individual athletes, with all relevant information displayed accordingly.</a:t>
            </a:r>
          </a:p>
          <a:p>
            <a:pPr algn="l" marL="394061" indent="-197030" lvl="1">
              <a:lnSpc>
                <a:spcPts val="2938"/>
              </a:lnSpc>
              <a:buFont typeface="Arial"/>
              <a:buChar char="•"/>
            </a:pPr>
            <a:r>
              <a:rPr lang="en-US" sz="1825" i="true">
                <a:solidFill>
                  <a:srgbClr val="FFFFFF"/>
                </a:solidFill>
                <a:latin typeface="Anton Italics"/>
                <a:ea typeface="Anton Italics"/>
                <a:cs typeface="Anton Italics"/>
                <a:sym typeface="Anton Italics"/>
              </a:rPr>
              <a:t>We can create a hockey rink visualization illustrating player positions and tactical formations.</a:t>
            </a:r>
          </a:p>
          <a:p>
            <a:pPr algn="l" marL="394061" indent="-197030" lvl="1">
              <a:lnSpc>
                <a:spcPts val="2938"/>
              </a:lnSpc>
              <a:buFont typeface="Arial"/>
              <a:buChar char="•"/>
            </a:pPr>
            <a:r>
              <a:rPr lang="en-US" sz="1825" i="true">
                <a:solidFill>
                  <a:srgbClr val="FFFFFF"/>
                </a:solidFill>
                <a:latin typeface="Anton Italics"/>
                <a:ea typeface="Anton Italics"/>
                <a:cs typeface="Anton Italics"/>
                <a:sym typeface="Anton Italics"/>
              </a:rPr>
              <a:t>We can estimate injury risk based on selected performance metrics and physiological data.</a:t>
            </a:r>
          </a:p>
          <a:p>
            <a:pPr algn="l" marL="394061" indent="-197030" lvl="1">
              <a:lnSpc>
                <a:spcPts val="2938"/>
              </a:lnSpc>
              <a:buFont typeface="Arial"/>
              <a:buChar char="•"/>
            </a:pPr>
            <a:r>
              <a:rPr lang="en-US" sz="1825" i="true">
                <a:solidFill>
                  <a:srgbClr val="FFFFFF"/>
                </a:solidFill>
                <a:latin typeface="Anton Italics"/>
                <a:ea typeface="Anton Italics"/>
                <a:cs typeface="Anton Italics"/>
                <a:sym typeface="Anton Italics"/>
              </a:rPr>
              <a:t>Regarding heart rate monitoring, this can be discussed further, as implementation is technically feasible.</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38E5"/>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2468880"/>
          </a:xfrm>
          <a:custGeom>
            <a:avLst/>
            <a:gdLst/>
            <a:ahLst/>
            <a:cxnLst/>
            <a:rect r="r" b="b" t="t" l="l"/>
            <a:pathLst>
              <a:path h="2468880" w="18288000">
                <a:moveTo>
                  <a:pt x="0" y="0"/>
                </a:moveTo>
                <a:lnTo>
                  <a:pt x="18288000" y="0"/>
                </a:lnTo>
                <a:lnTo>
                  <a:pt x="18288000" y="2468880"/>
                </a:lnTo>
                <a:lnTo>
                  <a:pt x="0" y="24688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0">
            <a:off x="5881444" y="2484817"/>
            <a:ext cx="12406556" cy="7738589"/>
          </a:xfrm>
          <a:custGeom>
            <a:avLst/>
            <a:gdLst/>
            <a:ahLst/>
            <a:cxnLst/>
            <a:rect r="r" b="b" t="t" l="l"/>
            <a:pathLst>
              <a:path h="7738589" w="12406556">
                <a:moveTo>
                  <a:pt x="0" y="0"/>
                </a:moveTo>
                <a:lnTo>
                  <a:pt x="12406556" y="0"/>
                </a:lnTo>
                <a:lnTo>
                  <a:pt x="12406556" y="7738589"/>
                </a:lnTo>
                <a:lnTo>
                  <a:pt x="0" y="77385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false" flipV="false" rot="0">
            <a:off x="-358275" y="3630652"/>
            <a:ext cx="7251456" cy="7028848"/>
          </a:xfrm>
          <a:custGeom>
            <a:avLst/>
            <a:gdLst/>
            <a:ahLst/>
            <a:cxnLst/>
            <a:rect r="r" b="b" t="t" l="l"/>
            <a:pathLst>
              <a:path h="7028848" w="7251456">
                <a:moveTo>
                  <a:pt x="0" y="0"/>
                </a:moveTo>
                <a:lnTo>
                  <a:pt x="7251456" y="0"/>
                </a:lnTo>
                <a:lnTo>
                  <a:pt x="7251456" y="7028847"/>
                </a:lnTo>
                <a:lnTo>
                  <a:pt x="0" y="7028847"/>
                </a:lnTo>
                <a:lnTo>
                  <a:pt x="0" y="0"/>
                </a:lnTo>
                <a:close/>
              </a:path>
            </a:pathLst>
          </a:custGeom>
          <a:blipFill>
            <a:blip r:embed="rId6"/>
            <a:stretch>
              <a:fillRect l="0" t="0" r="0" b="0"/>
            </a:stretch>
          </a:blipFill>
        </p:spPr>
      </p:sp>
      <p:sp>
        <p:nvSpPr>
          <p:cNvPr name="TextBox 5" id="5"/>
          <p:cNvSpPr txBox="true"/>
          <p:nvPr/>
        </p:nvSpPr>
        <p:spPr>
          <a:xfrm rot="0">
            <a:off x="375886" y="352084"/>
            <a:ext cx="18867271" cy="923925"/>
          </a:xfrm>
          <a:prstGeom prst="rect">
            <a:avLst/>
          </a:prstGeom>
        </p:spPr>
        <p:txBody>
          <a:bodyPr anchor="t" rtlCol="false" tIns="0" lIns="0" bIns="0" rIns="0">
            <a:spAutoFit/>
          </a:bodyPr>
          <a:lstStyle/>
          <a:p>
            <a:pPr algn="l">
              <a:lnSpc>
                <a:spcPts val="7200"/>
              </a:lnSpc>
            </a:pPr>
            <a:r>
              <a:rPr lang="en-US" sz="6000" i="true">
                <a:solidFill>
                  <a:srgbClr val="FFFFFF"/>
                </a:solidFill>
                <a:latin typeface="Anton Italics"/>
                <a:ea typeface="Anton Italics"/>
                <a:cs typeface="Anton Italics"/>
                <a:sym typeface="Anton Italics"/>
              </a:rPr>
              <a:t>THE IMPORTENCE OF YOU STARTING TO USE THE DEVICE</a:t>
            </a:r>
          </a:p>
        </p:txBody>
      </p:sp>
      <p:sp>
        <p:nvSpPr>
          <p:cNvPr name="TextBox 6" id="6"/>
          <p:cNvSpPr txBox="true"/>
          <p:nvPr/>
        </p:nvSpPr>
        <p:spPr>
          <a:xfrm rot="0">
            <a:off x="6394186" y="4576112"/>
            <a:ext cx="11381072" cy="3556000"/>
          </a:xfrm>
          <a:prstGeom prst="rect">
            <a:avLst/>
          </a:prstGeom>
        </p:spPr>
        <p:txBody>
          <a:bodyPr anchor="t" rtlCol="false" tIns="0" lIns="0" bIns="0" rIns="0">
            <a:spAutoFit/>
          </a:bodyPr>
          <a:lstStyle/>
          <a:p>
            <a:pPr algn="ctr">
              <a:lnSpc>
                <a:spcPts val="4062"/>
              </a:lnSpc>
              <a:spcBef>
                <a:spcPct val="0"/>
              </a:spcBef>
            </a:pPr>
            <a:r>
              <a:rPr lang="en-US" sz="3385" i="true">
                <a:solidFill>
                  <a:srgbClr val="FFFFFF"/>
                </a:solidFill>
                <a:latin typeface="Anton Italics"/>
                <a:ea typeface="Anton Italics"/>
                <a:cs typeface="Anton Italics"/>
                <a:sym typeface="Anton Italics"/>
              </a:rPr>
              <a:t>Continuous use of the device is essential to ensure data reliability and validity over time. Regular data collection enables longitudinal analysis, supports individualized monitoring, improves injury risk assessment, and strengthens evidence-based decision-making. Without consistent usage, trends cannot be identified, limiting the system’s value for performance optimization and player health management.</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51519"/>
        </a:solidFill>
      </p:bgPr>
    </p:bg>
    <p:spTree>
      <p:nvGrpSpPr>
        <p:cNvPr id="1" name=""/>
        <p:cNvGrpSpPr/>
        <p:nvPr/>
      </p:nvGrpSpPr>
      <p:grpSpPr>
        <a:xfrm>
          <a:off x="0" y="0"/>
          <a:ext cx="0" cy="0"/>
          <a:chOff x="0" y="0"/>
          <a:chExt cx="0" cy="0"/>
        </a:xfrm>
      </p:grpSpPr>
      <p:grpSp>
        <p:nvGrpSpPr>
          <p:cNvPr name="Group 2" id="2"/>
          <p:cNvGrpSpPr/>
          <p:nvPr/>
        </p:nvGrpSpPr>
        <p:grpSpPr>
          <a:xfrm rot="0">
            <a:off x="247648" y="238125"/>
            <a:ext cx="7500226" cy="10287000"/>
            <a:chOff x="0" y="0"/>
            <a:chExt cx="3404362" cy="4669282"/>
          </a:xfrm>
        </p:grpSpPr>
        <p:sp>
          <p:nvSpPr>
            <p:cNvPr name="Freeform 3" id="3"/>
            <p:cNvSpPr/>
            <p:nvPr/>
          </p:nvSpPr>
          <p:spPr>
            <a:xfrm flipH="false" flipV="false" rot="0">
              <a:off x="0" y="0"/>
              <a:ext cx="3404362" cy="4669282"/>
            </a:xfrm>
            <a:custGeom>
              <a:avLst/>
              <a:gdLst/>
              <a:ahLst/>
              <a:cxnLst/>
              <a:rect r="r" b="b" t="t" l="l"/>
              <a:pathLst>
                <a:path h="4669282" w="3404362">
                  <a:moveTo>
                    <a:pt x="3404362" y="2334641"/>
                  </a:moveTo>
                  <a:lnTo>
                    <a:pt x="1858518" y="2334641"/>
                  </a:lnTo>
                  <a:cubicBezTo>
                    <a:pt x="2712212" y="2334641"/>
                    <a:pt x="3404362" y="3026664"/>
                    <a:pt x="3404362" y="3880358"/>
                  </a:cubicBezTo>
                  <a:lnTo>
                    <a:pt x="3404362" y="4669282"/>
                  </a:lnTo>
                  <a:lnTo>
                    <a:pt x="0" y="4669282"/>
                  </a:lnTo>
                  <a:lnTo>
                    <a:pt x="0" y="1545717"/>
                  </a:lnTo>
                  <a:cubicBezTo>
                    <a:pt x="0" y="692023"/>
                    <a:pt x="692023" y="0"/>
                    <a:pt x="1545717" y="0"/>
                  </a:cubicBezTo>
                  <a:lnTo>
                    <a:pt x="3404362" y="0"/>
                  </a:lnTo>
                  <a:lnTo>
                    <a:pt x="3404362" y="2334641"/>
                  </a:lnTo>
                  <a:close/>
                </a:path>
              </a:pathLst>
            </a:custGeom>
            <a:solidFill>
              <a:srgbClr val="FF38E5"/>
            </a:solidFill>
            <a:ln cap="sq">
              <a:noFill/>
              <a:prstDash val="solid"/>
              <a:miter/>
            </a:ln>
          </p:spPr>
        </p:sp>
      </p:grpSp>
      <p:grpSp>
        <p:nvGrpSpPr>
          <p:cNvPr name="Group 4" id="4"/>
          <p:cNvGrpSpPr/>
          <p:nvPr/>
        </p:nvGrpSpPr>
        <p:grpSpPr>
          <a:xfrm rot="0">
            <a:off x="1231923" y="238125"/>
            <a:ext cx="7500226" cy="10287000"/>
            <a:chOff x="0" y="0"/>
            <a:chExt cx="3404362" cy="4669282"/>
          </a:xfrm>
        </p:grpSpPr>
        <p:sp>
          <p:nvSpPr>
            <p:cNvPr name="Freeform 5" id="5"/>
            <p:cNvSpPr/>
            <p:nvPr/>
          </p:nvSpPr>
          <p:spPr>
            <a:xfrm flipH="false" flipV="false" rot="0">
              <a:off x="0" y="0"/>
              <a:ext cx="3404362" cy="4669282"/>
            </a:xfrm>
            <a:custGeom>
              <a:avLst/>
              <a:gdLst/>
              <a:ahLst/>
              <a:cxnLst/>
              <a:rect r="r" b="b" t="t" l="l"/>
              <a:pathLst>
                <a:path h="4669282" w="3404362">
                  <a:moveTo>
                    <a:pt x="3404362" y="2334641"/>
                  </a:moveTo>
                  <a:lnTo>
                    <a:pt x="1858518" y="2334641"/>
                  </a:lnTo>
                  <a:cubicBezTo>
                    <a:pt x="2712212" y="2334641"/>
                    <a:pt x="3404362" y="3026664"/>
                    <a:pt x="3404362" y="3880358"/>
                  </a:cubicBezTo>
                  <a:lnTo>
                    <a:pt x="3404362" y="4669282"/>
                  </a:lnTo>
                  <a:lnTo>
                    <a:pt x="0" y="4669282"/>
                  </a:lnTo>
                  <a:lnTo>
                    <a:pt x="0" y="1545717"/>
                  </a:lnTo>
                  <a:cubicBezTo>
                    <a:pt x="0" y="692023"/>
                    <a:pt x="692023" y="0"/>
                    <a:pt x="1545717" y="0"/>
                  </a:cubicBezTo>
                  <a:lnTo>
                    <a:pt x="3404362" y="0"/>
                  </a:lnTo>
                  <a:lnTo>
                    <a:pt x="3404362" y="2334641"/>
                  </a:lnTo>
                  <a:close/>
                </a:path>
              </a:pathLst>
            </a:custGeom>
            <a:blipFill>
              <a:blip r:embed="rId2"/>
              <a:stretch>
                <a:fillRect l="-70312" t="0" r="-70312" b="0"/>
              </a:stretch>
            </a:blipFill>
          </p:spPr>
        </p:sp>
      </p:grpSp>
      <p:sp>
        <p:nvSpPr>
          <p:cNvPr name="Freeform 6" id="6"/>
          <p:cNvSpPr/>
          <p:nvPr/>
        </p:nvSpPr>
        <p:spPr>
          <a:xfrm flipH="false" flipV="false" rot="0">
            <a:off x="-223500" y="9704077"/>
            <a:ext cx="1084508" cy="582923"/>
          </a:xfrm>
          <a:custGeom>
            <a:avLst/>
            <a:gdLst/>
            <a:ahLst/>
            <a:cxnLst/>
            <a:rect r="r" b="b" t="t" l="l"/>
            <a:pathLst>
              <a:path h="582923" w="1084508">
                <a:moveTo>
                  <a:pt x="0" y="0"/>
                </a:moveTo>
                <a:lnTo>
                  <a:pt x="1084508" y="0"/>
                </a:lnTo>
                <a:lnTo>
                  <a:pt x="1084508" y="582923"/>
                </a:lnTo>
                <a:lnTo>
                  <a:pt x="0" y="582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541819" y="9704077"/>
            <a:ext cx="1084508" cy="582923"/>
          </a:xfrm>
          <a:custGeom>
            <a:avLst/>
            <a:gdLst/>
            <a:ahLst/>
            <a:cxnLst/>
            <a:rect r="r" b="b" t="t" l="l"/>
            <a:pathLst>
              <a:path h="582923" w="1084508">
                <a:moveTo>
                  <a:pt x="0" y="0"/>
                </a:moveTo>
                <a:lnTo>
                  <a:pt x="1084508" y="0"/>
                </a:lnTo>
                <a:lnTo>
                  <a:pt x="1084508" y="582923"/>
                </a:lnTo>
                <a:lnTo>
                  <a:pt x="0" y="582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8" id="8"/>
          <p:cNvSpPr/>
          <p:nvPr/>
        </p:nvSpPr>
        <p:spPr>
          <a:xfrm flipH="false" flipV="false" rot="0">
            <a:off x="1307137" y="9704077"/>
            <a:ext cx="1084508" cy="582923"/>
          </a:xfrm>
          <a:custGeom>
            <a:avLst/>
            <a:gdLst/>
            <a:ahLst/>
            <a:cxnLst/>
            <a:rect r="r" b="b" t="t" l="l"/>
            <a:pathLst>
              <a:path h="582923" w="1084508">
                <a:moveTo>
                  <a:pt x="0" y="0"/>
                </a:moveTo>
                <a:lnTo>
                  <a:pt x="1084508" y="0"/>
                </a:lnTo>
                <a:lnTo>
                  <a:pt x="1084508" y="582923"/>
                </a:lnTo>
                <a:lnTo>
                  <a:pt x="0" y="582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9" id="9"/>
          <p:cNvSpPr/>
          <p:nvPr/>
        </p:nvSpPr>
        <p:spPr>
          <a:xfrm flipH="false" flipV="false" rot="0">
            <a:off x="2072456" y="9704077"/>
            <a:ext cx="1084508" cy="582923"/>
          </a:xfrm>
          <a:custGeom>
            <a:avLst/>
            <a:gdLst/>
            <a:ahLst/>
            <a:cxnLst/>
            <a:rect r="r" b="b" t="t" l="l"/>
            <a:pathLst>
              <a:path h="582923" w="1084508">
                <a:moveTo>
                  <a:pt x="0" y="0"/>
                </a:moveTo>
                <a:lnTo>
                  <a:pt x="1084508" y="0"/>
                </a:lnTo>
                <a:lnTo>
                  <a:pt x="1084508" y="582923"/>
                </a:lnTo>
                <a:lnTo>
                  <a:pt x="0" y="582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0" id="10"/>
          <p:cNvSpPr/>
          <p:nvPr/>
        </p:nvSpPr>
        <p:spPr>
          <a:xfrm flipH="false" flipV="false" rot="0">
            <a:off x="2837774" y="9704077"/>
            <a:ext cx="1084508" cy="582923"/>
          </a:xfrm>
          <a:custGeom>
            <a:avLst/>
            <a:gdLst/>
            <a:ahLst/>
            <a:cxnLst/>
            <a:rect r="r" b="b" t="t" l="l"/>
            <a:pathLst>
              <a:path h="582923" w="1084508">
                <a:moveTo>
                  <a:pt x="0" y="0"/>
                </a:moveTo>
                <a:lnTo>
                  <a:pt x="1084508" y="0"/>
                </a:lnTo>
                <a:lnTo>
                  <a:pt x="1084508" y="582923"/>
                </a:lnTo>
                <a:lnTo>
                  <a:pt x="0" y="58292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11" id="11"/>
          <p:cNvSpPr/>
          <p:nvPr/>
        </p:nvSpPr>
        <p:spPr>
          <a:xfrm flipH="false" flipV="false" rot="0">
            <a:off x="15343366" y="-2000015"/>
            <a:ext cx="4951068" cy="5508837"/>
          </a:xfrm>
          <a:custGeom>
            <a:avLst/>
            <a:gdLst/>
            <a:ahLst/>
            <a:cxnLst/>
            <a:rect r="r" b="b" t="t" l="l"/>
            <a:pathLst>
              <a:path h="5508837" w="4951068">
                <a:moveTo>
                  <a:pt x="0" y="0"/>
                </a:moveTo>
                <a:lnTo>
                  <a:pt x="4951067" y="0"/>
                </a:lnTo>
                <a:lnTo>
                  <a:pt x="4951067" y="5508838"/>
                </a:lnTo>
                <a:lnTo>
                  <a:pt x="0" y="55088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0">
            <a:off x="18075126" y="2481399"/>
            <a:ext cx="425747" cy="138368"/>
          </a:xfrm>
          <a:custGeom>
            <a:avLst/>
            <a:gdLst/>
            <a:ahLst/>
            <a:cxnLst/>
            <a:rect r="r" b="b" t="t" l="l"/>
            <a:pathLst>
              <a:path h="138368" w="425747">
                <a:moveTo>
                  <a:pt x="0" y="0"/>
                </a:moveTo>
                <a:lnTo>
                  <a:pt x="425748" y="0"/>
                </a:lnTo>
                <a:lnTo>
                  <a:pt x="425748" y="138368"/>
                </a:lnTo>
                <a:lnTo>
                  <a:pt x="0" y="1383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rnd">
            <a:noFill/>
            <a:prstDash val="solid"/>
            <a:round/>
          </a:ln>
        </p:spPr>
      </p:sp>
      <p:sp>
        <p:nvSpPr>
          <p:cNvPr name="TextBox 13" id="13"/>
          <p:cNvSpPr txBox="true"/>
          <p:nvPr/>
        </p:nvSpPr>
        <p:spPr>
          <a:xfrm rot="0">
            <a:off x="9825974" y="744879"/>
            <a:ext cx="8674900" cy="1381125"/>
          </a:xfrm>
          <a:prstGeom prst="rect">
            <a:avLst/>
          </a:prstGeom>
        </p:spPr>
        <p:txBody>
          <a:bodyPr anchor="t" rtlCol="false" tIns="0" lIns="0" bIns="0" rIns="0">
            <a:spAutoFit/>
          </a:bodyPr>
          <a:lstStyle/>
          <a:p>
            <a:pPr algn="l">
              <a:lnSpc>
                <a:spcPts val="10800"/>
              </a:lnSpc>
            </a:pPr>
            <a:r>
              <a:rPr lang="en-US" sz="9000" i="true">
                <a:solidFill>
                  <a:srgbClr val="FFFFFF"/>
                </a:solidFill>
                <a:latin typeface="Anton Italics"/>
                <a:ea typeface="Anton Italics"/>
                <a:cs typeface="Anton Italics"/>
                <a:sym typeface="Anton Italics"/>
              </a:rPr>
              <a:t>UNTIL NEXT TIME</a:t>
            </a:r>
          </a:p>
        </p:txBody>
      </p:sp>
      <p:sp>
        <p:nvSpPr>
          <p:cNvPr name="TextBox 14" id="14"/>
          <p:cNvSpPr txBox="true"/>
          <p:nvPr/>
        </p:nvSpPr>
        <p:spPr>
          <a:xfrm rot="0">
            <a:off x="8913420" y="4053956"/>
            <a:ext cx="9374580" cy="1279526"/>
          </a:xfrm>
          <a:prstGeom prst="rect">
            <a:avLst/>
          </a:prstGeom>
        </p:spPr>
        <p:txBody>
          <a:bodyPr anchor="t" rtlCol="false" tIns="0" lIns="0" bIns="0" rIns="0">
            <a:spAutoFit/>
          </a:bodyPr>
          <a:lstStyle/>
          <a:p>
            <a:pPr algn="l" marL="539745" indent="-269872" lvl="1">
              <a:lnSpc>
                <a:spcPts val="3499"/>
              </a:lnSpc>
              <a:buFont typeface="Arial"/>
              <a:buChar char="•"/>
            </a:pPr>
            <a:r>
              <a:rPr lang="en-US" sz="2499">
                <a:solidFill>
                  <a:srgbClr val="FFFFFF"/>
                </a:solidFill>
                <a:latin typeface="Open Sans"/>
                <a:ea typeface="Open Sans"/>
                <a:cs typeface="Open Sans"/>
                <a:sym typeface="Open Sans"/>
              </a:rPr>
              <a:t>New meeting in 2 weeks</a:t>
            </a:r>
          </a:p>
          <a:p>
            <a:pPr algn="l" marL="539745" indent="-269872" lvl="1">
              <a:lnSpc>
                <a:spcPts val="3499"/>
              </a:lnSpc>
              <a:buFont typeface="Arial"/>
              <a:buChar char="•"/>
            </a:pPr>
            <a:r>
              <a:rPr lang="en-US" sz="2499">
                <a:solidFill>
                  <a:srgbClr val="FFFFFF"/>
                </a:solidFill>
                <a:latin typeface="Open Sans"/>
                <a:ea typeface="Open Sans"/>
                <a:cs typeface="Open Sans"/>
                <a:sym typeface="Open Sans"/>
              </a:rPr>
              <a:t>I will provide a skeleton regarding the Design all of you would prefer  </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DAG_snh3C8Q</dc:identifier>
  <dcterms:modified xsi:type="dcterms:W3CDTF">2011-08-01T06:04:30Z</dcterms:modified>
  <cp:revision>1</cp:revision>
  <dc:title> Dialog 02pt2 m.Træner </dc:title>
</cp:coreProperties>
</file>